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  <p:sldId id="267" r:id="rId18"/>
    <p:sldId id="268" r:id="rId19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7C8C"/>
          </a:solidFill>
          <a:ln w="12700">
            <a:solidFill>
              <a:srgbClr val="1E7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7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LABONITY / FIELD TEST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5097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572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現場試験アプリ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5727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5727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7C8C"/>
          </a:solidFill>
          <a:ln w="12700">
            <a:solidFill>
              <a:srgbClr val="1E7C8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594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D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LABONITY / FIELD TEST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現場試験アプリ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ステークホルダー説明資料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3232" y="30632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7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写真登録・OCR入力支援・既存Labonity連携の全体像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635240" y="1051560"/>
            <a:ext cx="3840480" cy="4297680"/>
          </a:xfrm>
          <a:prstGeom prst="roundRect">
            <a:avLst>
              <a:gd name="adj" fmla="val 1905"/>
            </a:avLst>
          </a:prstGeom>
          <a:solidFill>
            <a:srgbClr val="214664">
              <a:alpha val="95000"/>
            </a:srgbClr>
          </a:solidFill>
          <a:ln w="12700">
            <a:solidFill>
              <a:srgbClr val="4B718D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046720" y="1481328"/>
            <a:ext cx="475488" cy="475488"/>
          </a:xfrm>
          <a:prstGeom prst="ellipse">
            <a:avLst/>
          </a:prstGeom>
          <a:solidFill>
            <a:srgbClr val="1E7C8C"/>
          </a:solidFill>
          <a:ln w="12700">
            <a:solidFill>
              <a:srgbClr val="1E7C8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046720" y="160020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732520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目的と期待効果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2350008"/>
            <a:ext cx="475488" cy="475488"/>
          </a:xfrm>
          <a:prstGeom prst="ellipse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0" y="246888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732520" y="2423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全体の仕組み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3218688"/>
            <a:ext cx="475488" cy="475488"/>
          </a:xfrm>
          <a:prstGeom prst="ellipse">
            <a:avLst/>
          </a:prstGeom>
          <a:solidFill>
            <a:srgbClr val="4C7A57"/>
          </a:solidFill>
          <a:ln w="12700">
            <a:solidFill>
              <a:srgbClr val="4C7A5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046720" y="333756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32520" y="3291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対象範囲と安全性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4087368"/>
            <a:ext cx="475488" cy="475488"/>
          </a:xfrm>
          <a:prstGeom prst="ellipse">
            <a:avLst/>
          </a:prstGeom>
          <a:solidFill>
            <a:srgbClr val="C45454"/>
          </a:solidFill>
          <a:ln w="12700">
            <a:solidFill>
              <a:srgbClr val="C4545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046720" y="420624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32520" y="4160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判断事項と進め方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" y="619963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5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完成版  |  v2.2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何を実現するか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72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出荷実績を中心に、写真証跡と黒板値の入力業務を安全につなぎます。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0972800" cy="658368"/>
          </a:xfrm>
          <a:prstGeom prst="roundRect">
            <a:avLst>
              <a:gd name="adj" fmla="val 8333"/>
            </a:avLst>
          </a:prstGeom>
          <a:solidFill>
            <a:srgbClr val="173653"/>
          </a:solidFill>
          <a:ln w="12700">
            <a:solidFill>
              <a:srgbClr val="17365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58952" y="1435608"/>
            <a:ext cx="1064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「撮る → 保管する → 読み取る → 人が確認する → 既存業務で保存する」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3429000" cy="2240280"/>
          </a:xfrm>
          <a:prstGeom prst="roundRect">
            <a:avLst>
              <a:gd name="adj" fmla="val 2449"/>
            </a:avLst>
          </a:prstGeom>
          <a:solidFill>
            <a:srgbClr val="E5F4F6"/>
          </a:solidFill>
          <a:ln w="15240">
            <a:solidFill>
              <a:srgbClr val="1E7C8C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2331720"/>
            <a:ext cx="73152" cy="2240280"/>
          </a:xfrm>
          <a:prstGeom prst="rect">
            <a:avLst/>
          </a:prstGeom>
          <a:solidFill>
            <a:srgbClr val="1E7C8C"/>
          </a:solidFill>
          <a:ln w="12700">
            <a:solidFill>
              <a:srgbClr val="1E7C8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5528" y="2496312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写真証跡を出荷単位に整理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2944368"/>
            <a:ext cx="304495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通常写真とOCR黒板写真を、対象の出荷実績にひもづけて保管します。現場・時刻・車番を確認して登録し、後から追跡しやすくします。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379976" y="2331720"/>
            <a:ext cx="3429000" cy="2240280"/>
          </a:xfrm>
          <a:prstGeom prst="roundRect">
            <a:avLst>
              <a:gd name="adj" fmla="val 2449"/>
            </a:avLst>
          </a:prstGeom>
          <a:solidFill>
            <a:srgbClr val="FFF4D6"/>
          </a:solidFill>
          <a:ln w="1524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79976" y="2331720"/>
            <a:ext cx="73152" cy="224028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81144" y="2496312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転記を「確認付き入力支援」へ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81144" y="2944368"/>
            <a:ext cx="304495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OCRで黒板の読取候補を作り、原本写真・現在値・信頼度・警告を同じ画面で比較します。担当者が確認・修正してから反映します。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8165592" y="2331720"/>
            <a:ext cx="3429000" cy="2240280"/>
          </a:xfrm>
          <a:prstGeom prst="roundRect">
            <a:avLst>
              <a:gd name="adj" fmla="val 2449"/>
            </a:avLst>
          </a:prstGeom>
          <a:solidFill>
            <a:srgbClr val="EAF3E8"/>
          </a:solidFill>
          <a:ln w="15240">
            <a:solidFill>
              <a:srgbClr val="4C7A57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165592" y="2331720"/>
            <a:ext cx="73152" cy="2240280"/>
          </a:xfrm>
          <a:prstGeom prst="rect">
            <a:avLst/>
          </a:prstGeom>
          <a:solidFill>
            <a:srgbClr val="4C7A57"/>
          </a:solidFill>
          <a:ln w="12700">
            <a:solidFill>
              <a:srgbClr val="4C7A5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66760" y="2496312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既存Labonityを正式データの入口に維持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2944368"/>
            <a:ext cx="304495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クラウドは既存Labonityへ直接保存しません。社内へ同期された写真とOCR結果を確認し、従来の通常保存で正式登録します。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94360" y="4983480"/>
            <a:ext cx="1143000" cy="310896"/>
          </a:xfrm>
          <a:prstGeom prst="roundRect">
            <a:avLst>
              <a:gd name="adj" fmla="val 41176"/>
            </a:avLst>
          </a:prstGeom>
          <a:solidFill>
            <a:srgbClr val="3E6FA6"/>
          </a:solidFill>
          <a:ln w="12700">
            <a:solidFill>
              <a:srgbClr val="3E6FA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67512" y="5056632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期待効果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8368" y="5486400"/>
            <a:ext cx="118872" cy="118872"/>
          </a:xfrm>
          <a:prstGeom prst="ellipse">
            <a:avLst/>
          </a:prstGeom>
          <a:solidFill>
            <a:srgbClr val="3E6FA6"/>
          </a:solidFill>
          <a:ln w="12700">
            <a:solidFill>
              <a:srgbClr val="3E6FA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77824" y="5413248"/>
            <a:ext cx="10479024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写真探索・照合作業の削減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58368" y="5745480"/>
            <a:ext cx="118872" cy="118872"/>
          </a:xfrm>
          <a:prstGeom prst="ellipse">
            <a:avLst/>
          </a:prstGeom>
          <a:solidFill>
            <a:srgbClr val="3E6FA6"/>
          </a:solidFill>
          <a:ln w="12700">
            <a:solidFill>
              <a:srgbClr val="3E6FA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77824" y="5672328"/>
            <a:ext cx="10479024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入力時間と転記ミスの削減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58368" y="6004560"/>
            <a:ext cx="118872" cy="118872"/>
          </a:xfrm>
          <a:prstGeom prst="ellipse">
            <a:avLst/>
          </a:prstGeom>
          <a:solidFill>
            <a:srgbClr val="3E6FA6"/>
          </a:solidFill>
          <a:ln w="12700">
            <a:solidFill>
              <a:srgbClr val="3E6FA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77824" y="5931408"/>
            <a:ext cx="10479024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写真・OCR・保存結果の追跡性向上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5727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全体の仕組み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72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ステークホルダー向けに、役割と情報の流れを5つの箱で整理しています。</a:t>
            </a:r>
            <a:endParaRPr lang="en-US" sz="1050" dirty="0"/>
          </a:p>
        </p:txBody>
      </p:sp>
      <p:pic>
        <p:nvPicPr>
          <p:cNvPr id="4" name="Image 0" descr="/mnt/data/revised/assets/system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726" y="1170432"/>
            <a:ext cx="9197788" cy="5212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5727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業務の流れ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72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現場での写真登録から、既存Labonityでの正式保存まで。</a:t>
            </a:r>
            <a:endParaRPr lang="en-US" sz="1050" dirty="0"/>
          </a:p>
        </p:txBody>
      </p:sp>
      <p:pic>
        <p:nvPicPr>
          <p:cNvPr id="4" name="Image 0" descr="/mnt/data/revised/assets/business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332484"/>
            <a:ext cx="11338560" cy="47873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5727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対象範囲と対象外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72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初期導入の境界を明確にし、利用者の期待と実装範囲をそろえます。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110185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CD6DD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6928" y="1325880"/>
            <a:ext cx="2057400" cy="960120"/>
          </a:xfrm>
          <a:prstGeom prst="roundRect">
            <a:avLst>
              <a:gd name="adj" fmla="val 4762"/>
            </a:avLst>
          </a:prstGeom>
          <a:solidFill>
            <a:srgbClr val="1E7C8C"/>
          </a:solidFill>
          <a:ln w="12700">
            <a:solidFill>
              <a:srgbClr val="1E7C8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1609344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現場試験 Web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834640" y="14356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7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834640" y="1664208"/>
            <a:ext cx="5669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ログイン／予定・出荷参照／地図起動／通常写真・OCR黒板写真登録／状態確認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8732520" y="1435608"/>
            <a:ext cx="0" cy="713232"/>
          </a:xfrm>
          <a:prstGeom prst="line">
            <a:avLst/>
          </a:prstGeom>
          <a:noFill/>
          <a:ln w="12700">
            <a:solidFill>
              <a:srgbClr val="CCD6D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961120" y="1435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54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対象外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961120" y="1664208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TP正式入力／基幹データ編集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2578608"/>
            <a:ext cx="110185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CD6D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66928" y="2578608"/>
            <a:ext cx="2057400" cy="960120"/>
          </a:xfrm>
          <a:prstGeom prst="roundRect">
            <a:avLst>
              <a:gd name="adj" fmla="val 4762"/>
            </a:avLst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13232" y="2862072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現場試験アプリ用クラウド環境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834640" y="268833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9E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834640" y="2916936"/>
            <a:ext cx="5669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写真保管／OCR／信頼度・画質・警告／同期イベント／監査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732520" y="2688336"/>
            <a:ext cx="0" cy="713232"/>
          </a:xfrm>
          <a:prstGeom prst="line">
            <a:avLst/>
          </a:prstGeom>
          <a:noFill/>
          <a:ln w="12700">
            <a:solidFill>
              <a:srgbClr val="CCD6D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961120" y="26883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54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対象外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961120" y="2916936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既存Labonityへの直接保存／通常写真のOCR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3831336"/>
            <a:ext cx="110185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CD6DD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66928" y="3831336"/>
            <a:ext cx="2057400" cy="960120"/>
          </a:xfrm>
          <a:prstGeom prst="roundRect">
            <a:avLst>
              <a:gd name="adj" fmla="val 4762"/>
            </a:avLst>
          </a:prstGeom>
          <a:solidFill>
            <a:srgbClr val="4C7A57"/>
          </a:solidFill>
          <a:ln w="12700">
            <a:solidFill>
              <a:srgbClr val="4C7A5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13232" y="4114800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Sync Agent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834640" y="394106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C7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834640" y="4169664"/>
            <a:ext cx="5669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参照データ同期／写真・OCR結果取得／JPEG保存／監視・再処理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8732520" y="3941064"/>
            <a:ext cx="0" cy="713232"/>
          </a:xfrm>
          <a:prstGeom prst="line">
            <a:avLst/>
          </a:prstGeom>
          <a:noFill/>
          <a:ln w="12700">
            <a:solidFill>
              <a:srgbClr val="CCD6D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961120" y="39410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54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対象外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961120" y="4169664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個人の代理ログイン／既存Labonity向けローカルAPI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6928" y="5084064"/>
            <a:ext cx="110185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CD6DD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66928" y="5084064"/>
            <a:ext cx="2057400" cy="960120"/>
          </a:xfrm>
          <a:prstGeom prst="roundRect">
            <a:avLst>
              <a:gd name="adj" fmla="val 4762"/>
            </a:avLst>
          </a:prstGeom>
          <a:solidFill>
            <a:srgbClr val="3E6FA6"/>
          </a:solidFill>
          <a:ln w="12700">
            <a:solidFill>
              <a:srgbClr val="3E6FA6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13232" y="536752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 Labonity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2834640" y="51937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E6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834640" y="5422392"/>
            <a:ext cx="5669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原本・候補値の確認／反映先検証／入力欄反映／通常保存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8732520" y="5193792"/>
            <a:ext cx="0" cy="713232"/>
          </a:xfrm>
          <a:prstGeom prst="line">
            <a:avLst/>
          </a:prstGeom>
          <a:noFill/>
          <a:ln w="12700">
            <a:solidFill>
              <a:srgbClr val="CCD6DD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961120" y="519379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54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対象外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961120" y="5422392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クラウド認証／OCR実行依頼／クラウドAPI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5727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責任分担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72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各構成要素が「何をするか／何をしないか」を分けます。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423160" cy="4069080"/>
          </a:xfrm>
          <a:prstGeom prst="roundRect">
            <a:avLst>
              <a:gd name="adj" fmla="val 2264"/>
            </a:avLst>
          </a:prstGeom>
          <a:solidFill>
            <a:srgbClr val="E5F4F6"/>
          </a:solidFill>
          <a:ln w="15240">
            <a:solidFill>
              <a:srgbClr val="1E7C8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417320"/>
            <a:ext cx="2423160" cy="566928"/>
          </a:xfrm>
          <a:prstGeom prst="rect">
            <a:avLst/>
          </a:prstGeom>
          <a:solidFill>
            <a:srgbClr val="1E7C8C"/>
          </a:solidFill>
          <a:ln w="12700">
            <a:solidFill>
              <a:srgbClr val="1E7C8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22376" y="1591056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現場担当者・Web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2404872"/>
            <a:ext cx="118872" cy="118872"/>
          </a:xfrm>
          <a:prstGeom prst="ellipse">
            <a:avLst/>
          </a:prstGeom>
          <a:solidFill>
            <a:srgbClr val="1E7C8C"/>
          </a:solidFill>
          <a:ln w="12700">
            <a:solidFill>
              <a:srgbClr val="1E7C8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96696" y="2331720"/>
            <a:ext cx="1837944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予定・出荷を確認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777240" y="2923032"/>
            <a:ext cx="118872" cy="118872"/>
          </a:xfrm>
          <a:prstGeom prst="ellipse">
            <a:avLst/>
          </a:prstGeom>
          <a:solidFill>
            <a:srgbClr val="1E7C8C"/>
          </a:solidFill>
          <a:ln w="12700">
            <a:solidFill>
              <a:srgbClr val="1E7C8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96696" y="2849880"/>
            <a:ext cx="1837944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写真を登録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777240" y="3441192"/>
            <a:ext cx="118872" cy="118872"/>
          </a:xfrm>
          <a:prstGeom prst="ellipse">
            <a:avLst/>
          </a:prstGeom>
          <a:solidFill>
            <a:srgbClr val="1E7C8C"/>
          </a:solidFill>
          <a:ln w="12700">
            <a:solidFill>
              <a:srgbClr val="1E7C8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96696" y="3368040"/>
            <a:ext cx="1837944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処理状態を確認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77240" y="4224528"/>
            <a:ext cx="2057400" cy="0"/>
          </a:xfrm>
          <a:prstGeom prst="line">
            <a:avLst/>
          </a:prstGeom>
          <a:noFill/>
          <a:ln w="12700">
            <a:solidFill>
              <a:srgbClr val="1E7C8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44074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54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しないこと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473659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TP正式保存・基幹編集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3456432" y="1417320"/>
            <a:ext cx="2423160" cy="4069080"/>
          </a:xfrm>
          <a:prstGeom prst="roundRect">
            <a:avLst>
              <a:gd name="adj" fmla="val 2264"/>
            </a:avLst>
          </a:prstGeom>
          <a:solidFill>
            <a:srgbClr val="FFF4D6"/>
          </a:solidFill>
          <a:ln w="1524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456432" y="1417320"/>
            <a:ext cx="2423160" cy="56692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584448" y="1591056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639312" y="2404872"/>
            <a:ext cx="118872" cy="118872"/>
          </a:xfrm>
          <a:prstGeom prst="ellipse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858768" y="2331720"/>
            <a:ext cx="1837944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写真を保管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3639312" y="2923032"/>
            <a:ext cx="118872" cy="118872"/>
          </a:xfrm>
          <a:prstGeom prst="ellipse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858768" y="2849880"/>
            <a:ext cx="1837944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OCR候補を作成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3639312" y="3441192"/>
            <a:ext cx="118872" cy="118872"/>
          </a:xfrm>
          <a:prstGeom prst="ellipse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858768" y="3368040"/>
            <a:ext cx="1837944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同期対象・監査を管理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3639312" y="4224528"/>
            <a:ext cx="2057400" cy="0"/>
          </a:xfrm>
          <a:prstGeom prst="line">
            <a:avLst/>
          </a:prstGeom>
          <a:noFill/>
          <a:ln w="1270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639312" y="44074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54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しないこと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39312" y="473659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既存Labonityへ直接保存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6318504" y="1417320"/>
            <a:ext cx="2423160" cy="4069080"/>
          </a:xfrm>
          <a:prstGeom prst="roundRect">
            <a:avLst>
              <a:gd name="adj" fmla="val 2264"/>
            </a:avLst>
          </a:prstGeom>
          <a:solidFill>
            <a:srgbClr val="EAF3E8"/>
          </a:solidFill>
          <a:ln w="15240">
            <a:solidFill>
              <a:srgbClr val="4C7A57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318504" y="1417320"/>
            <a:ext cx="2423160" cy="566928"/>
          </a:xfrm>
          <a:prstGeom prst="rect">
            <a:avLst/>
          </a:prstGeom>
          <a:solidFill>
            <a:srgbClr val="4C7A57"/>
          </a:solidFill>
          <a:ln w="12700">
            <a:solidFill>
              <a:srgbClr val="4C7A57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446520" y="1591056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Sync Agent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501384" y="2404872"/>
            <a:ext cx="118872" cy="118872"/>
          </a:xfrm>
          <a:prstGeom prst="ellipse">
            <a:avLst/>
          </a:prstGeom>
          <a:solidFill>
            <a:srgbClr val="4C7A57"/>
          </a:solidFill>
          <a:ln w="12700">
            <a:solidFill>
              <a:srgbClr val="4C7A57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720840" y="2331720"/>
            <a:ext cx="1837944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参照データを同期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6501384" y="2923032"/>
            <a:ext cx="118872" cy="118872"/>
          </a:xfrm>
          <a:prstGeom prst="ellipse">
            <a:avLst/>
          </a:prstGeom>
          <a:solidFill>
            <a:srgbClr val="4C7A57"/>
          </a:solidFill>
          <a:ln w="12700">
            <a:solidFill>
              <a:srgbClr val="4C7A57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720840" y="2849880"/>
            <a:ext cx="1837944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写真・OCRを社内へ連携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6501384" y="3441192"/>
            <a:ext cx="118872" cy="118872"/>
          </a:xfrm>
          <a:prstGeom prst="ellipse">
            <a:avLst/>
          </a:prstGeom>
          <a:solidFill>
            <a:srgbClr val="4C7A57"/>
          </a:solidFill>
          <a:ln w="12700">
            <a:solidFill>
              <a:srgbClr val="4C7A57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720840" y="3368040"/>
            <a:ext cx="1837944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JPEG・状態を管理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6501384" y="4224528"/>
            <a:ext cx="2057400" cy="0"/>
          </a:xfrm>
          <a:prstGeom prst="line">
            <a:avLst/>
          </a:prstGeom>
          <a:noFill/>
          <a:ln w="12700">
            <a:solidFill>
              <a:srgbClr val="4C7A57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501384" y="44074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54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しないこと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01384" y="473659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個人ユーザーの代理操作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9180576" y="1417320"/>
            <a:ext cx="2423160" cy="4069080"/>
          </a:xfrm>
          <a:prstGeom prst="roundRect">
            <a:avLst>
              <a:gd name="adj" fmla="val 2264"/>
            </a:avLst>
          </a:prstGeom>
          <a:solidFill>
            <a:srgbClr val="E7EFF8"/>
          </a:solidFill>
          <a:ln w="15240">
            <a:solidFill>
              <a:srgbClr val="3E6FA6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9180576" y="1417320"/>
            <a:ext cx="2423160" cy="566928"/>
          </a:xfrm>
          <a:prstGeom prst="rect">
            <a:avLst/>
          </a:prstGeom>
          <a:solidFill>
            <a:srgbClr val="3E6FA6"/>
          </a:solidFill>
          <a:ln w="12700">
            <a:solidFill>
              <a:srgbClr val="3E6FA6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9308592" y="1591056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既存Labonity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9363456" y="2404872"/>
            <a:ext cx="118872" cy="118872"/>
          </a:xfrm>
          <a:prstGeom prst="ellipse">
            <a:avLst/>
          </a:prstGeom>
          <a:solidFill>
            <a:srgbClr val="3E6FA6"/>
          </a:solidFill>
          <a:ln w="12700">
            <a:solidFill>
              <a:srgbClr val="3E6FA6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9582912" y="2331720"/>
            <a:ext cx="1837944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原本と候補を比較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9363456" y="2923032"/>
            <a:ext cx="118872" cy="118872"/>
          </a:xfrm>
          <a:prstGeom prst="ellipse">
            <a:avLst/>
          </a:prstGeom>
          <a:solidFill>
            <a:srgbClr val="3E6FA6"/>
          </a:solidFill>
          <a:ln w="12700">
            <a:solidFill>
              <a:srgbClr val="3E6FA6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9582912" y="2849880"/>
            <a:ext cx="1837944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正しい行へ反映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9363456" y="3441192"/>
            <a:ext cx="118872" cy="118872"/>
          </a:xfrm>
          <a:prstGeom prst="ellipse">
            <a:avLst/>
          </a:prstGeom>
          <a:solidFill>
            <a:srgbClr val="3E6FA6"/>
          </a:solidFill>
          <a:ln w="12700">
            <a:solidFill>
              <a:srgbClr val="3E6FA6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9582912" y="3368040"/>
            <a:ext cx="1837944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通常操作で正式保存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9363456" y="4224528"/>
            <a:ext cx="2057400" cy="0"/>
          </a:xfrm>
          <a:prstGeom prst="line">
            <a:avLst/>
          </a:prstGeom>
          <a:noFill/>
          <a:ln w="12700">
            <a:solidFill>
              <a:srgbClr val="3E6FA6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9363456" y="44074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54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しないこと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363456" y="473659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クラウド認証・API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822960" y="5806440"/>
            <a:ext cx="10561320" cy="502920"/>
          </a:xfrm>
          <a:prstGeom prst="roundRect">
            <a:avLst>
              <a:gd name="adj" fmla="val 10909"/>
            </a:avLst>
          </a:prstGeom>
          <a:solidFill>
            <a:srgbClr val="173653"/>
          </a:solidFill>
          <a:ln w="12700">
            <a:solidFill>
              <a:srgbClr val="173653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987552" y="5916168"/>
            <a:ext cx="10232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正式データの責任は既存Labonityに残し、クラウドとAIは写真管理・入力支援に限定します。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5727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安全設計の5原則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72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AI・クラウド・同期を利用しても、誤反映とデータ混在を防ぐための原則です。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246120" cy="1737360"/>
          </a:xfrm>
          <a:prstGeom prst="roundRect">
            <a:avLst>
              <a:gd name="adj" fmla="val 3158"/>
            </a:avLst>
          </a:prstGeom>
          <a:solidFill>
            <a:srgbClr val="FBEAEA"/>
          </a:solidFill>
          <a:ln w="15240">
            <a:solidFill>
              <a:srgbClr val="C4545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58952" y="1581912"/>
            <a:ext cx="457200" cy="457200"/>
          </a:xfrm>
          <a:prstGeom prst="ellipse">
            <a:avLst/>
          </a:prstGeom>
          <a:solidFill>
            <a:srgbClr val="C45454"/>
          </a:solidFill>
          <a:ln w="12700">
            <a:solidFill>
              <a:srgbClr val="C4545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58952" y="17007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44168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人が必ず確認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217627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高信頼度でも自動確定しない。原本写真と候補値を並べる。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60520" y="1417320"/>
            <a:ext cx="3246120" cy="1737360"/>
          </a:xfrm>
          <a:prstGeom prst="roundRect">
            <a:avLst>
              <a:gd name="adj" fmla="val 3158"/>
            </a:avLst>
          </a:prstGeom>
          <a:solidFill>
            <a:srgbClr val="E7EFF8"/>
          </a:solidFill>
          <a:ln w="15240">
            <a:solidFill>
              <a:srgbClr val="3E6FA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25112" y="1581912"/>
            <a:ext cx="457200" cy="457200"/>
          </a:xfrm>
          <a:prstGeom prst="ellipse">
            <a:avLst/>
          </a:prstGeom>
          <a:solidFill>
            <a:srgbClr val="3E6FA6"/>
          </a:solidFill>
          <a:ln w="12700">
            <a:solidFill>
              <a:srgbClr val="3E6FA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325112" y="17007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10328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反映先を検証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61688" y="217627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TP・行番号・データ区分・出荷実績が一致した場合だけ反映。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26680" y="1417320"/>
            <a:ext cx="3246120" cy="1737360"/>
          </a:xfrm>
          <a:prstGeom prst="roundRect">
            <a:avLst>
              <a:gd name="adj" fmla="val 3158"/>
            </a:avLst>
          </a:prstGeom>
          <a:solidFill>
            <a:srgbClr val="F0EAF5"/>
          </a:solidFill>
          <a:ln w="15240">
            <a:solidFill>
              <a:srgbClr val="725A86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891272" y="1581912"/>
            <a:ext cx="457200" cy="457200"/>
          </a:xfrm>
          <a:prstGeom prst="ellipse">
            <a:avLst/>
          </a:prstGeom>
          <a:solidFill>
            <a:srgbClr val="725A86"/>
          </a:solidFill>
          <a:ln w="12700">
            <a:solidFill>
              <a:srgbClr val="725A8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891272" y="17007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76488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人間とAgentを分離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27848" y="217627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個人認証と常駐サービス認証を分け、同期専用権限に限定。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77440" y="3886200"/>
            <a:ext cx="3246120" cy="1737360"/>
          </a:xfrm>
          <a:prstGeom prst="roundRect">
            <a:avLst>
              <a:gd name="adj" fmla="val 3158"/>
            </a:avLst>
          </a:prstGeom>
          <a:solidFill>
            <a:srgbClr val="E5F4F6"/>
          </a:solidFill>
          <a:ln w="15240">
            <a:solidFill>
              <a:srgbClr val="1E7C8C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542032" y="4050792"/>
            <a:ext cx="457200" cy="457200"/>
          </a:xfrm>
          <a:prstGeom prst="ellipse">
            <a:avLst/>
          </a:prstGeom>
          <a:solidFill>
            <a:srgbClr val="1E7C8C"/>
          </a:solidFill>
          <a:ln w="12700">
            <a:solidFill>
              <a:srgbClr val="1E7C8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542032" y="416966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127248" y="40782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データの正本を明確化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578608" y="464515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既存業務データは既存Labonity、写真・OCRはクラウドを正本とする。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0" y="3886200"/>
            <a:ext cx="3246120" cy="1737360"/>
          </a:xfrm>
          <a:prstGeom prst="roundRect">
            <a:avLst>
              <a:gd name="adj" fmla="val 3158"/>
            </a:avLst>
          </a:prstGeom>
          <a:solidFill>
            <a:srgbClr val="EAF3E8"/>
          </a:solidFill>
          <a:ln w="15240">
            <a:solidFill>
              <a:srgbClr val="4C7A57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108192" y="4050792"/>
            <a:ext cx="457200" cy="457200"/>
          </a:xfrm>
          <a:prstGeom prst="ellipse">
            <a:avLst/>
          </a:prstGeom>
          <a:solidFill>
            <a:srgbClr val="4C7A57"/>
          </a:solidFill>
          <a:ln w="12700">
            <a:solidFill>
              <a:srgbClr val="4C7A5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108192" y="416966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693408" y="40782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再送・停止に強くする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44768" y="464515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重複防止、処理済み位置、再試行、二重Agent防止、監視を用意。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5727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期待効果とKPI候補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72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数値目標はパイロット前後の実測を基に確定します。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514600" cy="2011680"/>
          </a:xfrm>
          <a:prstGeom prst="roundRect">
            <a:avLst>
              <a:gd name="adj" fmla="val 2727"/>
            </a:avLst>
          </a:prstGeom>
          <a:solidFill>
            <a:srgbClr val="E5F4F6"/>
          </a:solidFill>
          <a:ln w="15240">
            <a:solidFill>
              <a:srgbClr val="1E7C8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58952" y="1673352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写真探索時間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58952" y="2157984"/>
            <a:ext cx="2185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E7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短縮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77240" y="276148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対象出荷の写真を探し、照合する時間</a:t>
            </a:r>
            <a:endParaRPr lang="en-US" sz="890" dirty="0"/>
          </a:p>
        </p:txBody>
      </p:sp>
      <p:sp>
        <p:nvSpPr>
          <p:cNvPr id="8" name="Shape 6"/>
          <p:cNvSpPr/>
          <p:nvPr/>
        </p:nvSpPr>
        <p:spPr>
          <a:xfrm>
            <a:off x="3429000" y="1417320"/>
            <a:ext cx="2514600" cy="2011680"/>
          </a:xfrm>
          <a:prstGeom prst="roundRect">
            <a:avLst>
              <a:gd name="adj" fmla="val 2727"/>
            </a:avLst>
          </a:prstGeom>
          <a:solidFill>
            <a:srgbClr val="FFF4D6"/>
          </a:solidFill>
          <a:ln w="1524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93592" y="1673352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入力時間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93592" y="2157984"/>
            <a:ext cx="2185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69E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短縮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611880" y="276148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黒板値の入力・確認に要する時間</a:t>
            </a:r>
            <a:endParaRPr lang="en-US" sz="89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2514600" cy="2011680"/>
          </a:xfrm>
          <a:prstGeom prst="roundRect">
            <a:avLst>
              <a:gd name="adj" fmla="val 2727"/>
            </a:avLst>
          </a:prstGeom>
          <a:solidFill>
            <a:srgbClr val="FBEAEA"/>
          </a:solidFill>
          <a:ln w="15240">
            <a:solidFill>
              <a:srgbClr val="C4545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28232" y="1673352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誤紐づけ・差戻し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28232" y="2157984"/>
            <a:ext cx="2185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454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減少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446520" y="276148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誤出荷選択、転記修正、差戻し件数</a:t>
            </a:r>
            <a:endParaRPr lang="en-US" sz="890" dirty="0"/>
          </a:p>
        </p:txBody>
      </p:sp>
      <p:sp>
        <p:nvSpPr>
          <p:cNvPr id="16" name="Shape 14"/>
          <p:cNvSpPr/>
          <p:nvPr/>
        </p:nvSpPr>
        <p:spPr>
          <a:xfrm>
            <a:off x="9098280" y="1417320"/>
            <a:ext cx="2514600" cy="2011680"/>
          </a:xfrm>
          <a:prstGeom prst="roundRect">
            <a:avLst>
              <a:gd name="adj" fmla="val 2727"/>
            </a:avLst>
          </a:prstGeom>
          <a:solidFill>
            <a:srgbClr val="E7EFF8"/>
          </a:solidFill>
          <a:ln w="15240">
            <a:solidFill>
              <a:srgbClr val="3E6FA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262872" y="1673352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写真・同期完了率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262872" y="2157984"/>
            <a:ext cx="2185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E6F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向上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9281160" y="276148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対象出荷への写真登録と同期の完了率</a:t>
            </a:r>
            <a:endParaRPr lang="en-US" sz="890" dirty="0"/>
          </a:p>
        </p:txBody>
      </p:sp>
      <p:sp>
        <p:nvSpPr>
          <p:cNvPr id="20" name="Shape 18"/>
          <p:cNvSpPr/>
          <p:nvPr/>
        </p:nvSpPr>
        <p:spPr>
          <a:xfrm>
            <a:off x="594360" y="3840480"/>
            <a:ext cx="2103120" cy="310896"/>
          </a:xfrm>
          <a:prstGeom prst="roundRect">
            <a:avLst>
              <a:gd name="adj" fmla="val 41176"/>
            </a:avLst>
          </a:prstGeom>
          <a:solidFill>
            <a:srgbClr val="4C7A57"/>
          </a:solidFill>
          <a:ln w="12700">
            <a:solidFill>
              <a:srgbClr val="4C7A5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67512" y="391363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パイロットで計測するもの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49808" y="4352544"/>
            <a:ext cx="118872" cy="118872"/>
          </a:xfrm>
          <a:prstGeom prst="ellipse">
            <a:avLst/>
          </a:prstGeom>
          <a:solidFill>
            <a:srgbClr val="4C7A57"/>
          </a:solidFill>
          <a:ln w="12700">
            <a:solidFill>
              <a:srgbClr val="4C7A5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69264" y="4279392"/>
            <a:ext cx="10204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現状の写真探索・転記時間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749808" y="4617720"/>
            <a:ext cx="118872" cy="118872"/>
          </a:xfrm>
          <a:prstGeom prst="ellipse">
            <a:avLst/>
          </a:prstGeom>
          <a:solidFill>
            <a:srgbClr val="4C7A57"/>
          </a:solidFill>
          <a:ln w="12700">
            <a:solidFill>
              <a:srgbClr val="4C7A5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69264" y="4544568"/>
            <a:ext cx="10204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実写真での項目別OCR修正率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749808" y="4882896"/>
            <a:ext cx="118872" cy="118872"/>
          </a:xfrm>
          <a:prstGeom prst="ellipse">
            <a:avLst/>
          </a:prstGeom>
          <a:solidFill>
            <a:srgbClr val="4C7A57"/>
          </a:solidFill>
          <a:ln w="12700">
            <a:solidFill>
              <a:srgbClr val="4C7A57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69264" y="4809744"/>
            <a:ext cx="10204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アップロード・同期・JPEG生成の成功率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749808" y="5148072"/>
            <a:ext cx="118872" cy="118872"/>
          </a:xfrm>
          <a:prstGeom prst="ellipse">
            <a:avLst/>
          </a:prstGeom>
          <a:solidFill>
            <a:srgbClr val="4C7A57"/>
          </a:solidFill>
          <a:ln w="12700">
            <a:solidFill>
              <a:srgbClr val="4C7A57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69264" y="5074920"/>
            <a:ext cx="10204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利用者が手入力へ切り替えた理由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749808" y="5413248"/>
            <a:ext cx="118872" cy="118872"/>
          </a:xfrm>
          <a:prstGeom prst="ellipse">
            <a:avLst/>
          </a:prstGeom>
          <a:solidFill>
            <a:srgbClr val="4C7A57"/>
          </a:solidFill>
          <a:ln w="12700">
            <a:solidFill>
              <a:srgbClr val="4C7A57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69264" y="5340096"/>
            <a:ext cx="10204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写真容量・OCR件数・月額費用の実測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841248" y="5833872"/>
            <a:ext cx="10515600" cy="502920"/>
          </a:xfrm>
          <a:prstGeom prst="roundRect">
            <a:avLst>
              <a:gd name="adj" fmla="val 10909"/>
            </a:avLst>
          </a:prstGeom>
          <a:solidFill>
            <a:srgbClr val="FFF4D6"/>
          </a:solidFill>
          <a:ln w="1270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005840" y="5943600"/>
            <a:ext cx="10186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KPIは「速さ」だけでなく、誤紐づけ防止・追跡性・業務継続も含めて評価します。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5727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段階導入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72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技術検証と業務検証を分け、小さく始めて判断材料を集めます。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514600" cy="4251960"/>
          </a:xfrm>
          <a:prstGeom prst="roundRect">
            <a:avLst>
              <a:gd name="adj" fmla="val 2182"/>
            </a:avLst>
          </a:prstGeom>
          <a:solidFill>
            <a:srgbClr val="F0EAF5"/>
          </a:solidFill>
          <a:ln w="15240">
            <a:solidFill>
              <a:srgbClr val="725A8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417320"/>
            <a:ext cx="2514600" cy="594360"/>
          </a:xfrm>
          <a:prstGeom prst="rect">
            <a:avLst/>
          </a:prstGeom>
          <a:solidFill>
            <a:srgbClr val="725A86"/>
          </a:solidFill>
          <a:ln w="12700">
            <a:solidFill>
              <a:srgbClr val="725A8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57276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" y="2267712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合意・技術検証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3044952"/>
            <a:ext cx="118872" cy="118872"/>
          </a:xfrm>
          <a:prstGeom prst="ellipse">
            <a:avLst/>
          </a:prstGeom>
          <a:solidFill>
            <a:srgbClr val="725A86"/>
          </a:solidFill>
          <a:ln w="12700">
            <a:solidFill>
              <a:srgbClr val="725A8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96696" y="2971800"/>
            <a:ext cx="1929384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KPI・MVP・データ審査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77240" y="3532632"/>
            <a:ext cx="118872" cy="118872"/>
          </a:xfrm>
          <a:prstGeom prst="ellipse">
            <a:avLst/>
          </a:prstGeom>
          <a:solidFill>
            <a:srgbClr val="725A86"/>
          </a:solidFill>
          <a:ln w="12700">
            <a:solidFill>
              <a:srgbClr val="725A8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96696" y="3459480"/>
            <a:ext cx="1929384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端末・OCR・認証・接続PoC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7240" y="4020312"/>
            <a:ext cx="118872" cy="118872"/>
          </a:xfrm>
          <a:prstGeom prst="ellipse">
            <a:avLst/>
          </a:prstGeom>
          <a:solidFill>
            <a:srgbClr val="725A86"/>
          </a:solidFill>
          <a:ln w="12700">
            <a:solidFill>
              <a:srgbClr val="725A8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96696" y="3947160"/>
            <a:ext cx="1929384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対象版・導入条件の確認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95528" y="4773168"/>
            <a:ext cx="2112264" cy="0"/>
          </a:xfrm>
          <a:prstGeom prst="line">
            <a:avLst/>
          </a:prstGeom>
          <a:noFill/>
          <a:ln w="12700">
            <a:solidFill>
              <a:srgbClr val="725A8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501091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25A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開始条件を合意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29000" y="1417320"/>
            <a:ext cx="2514600" cy="4251960"/>
          </a:xfrm>
          <a:prstGeom prst="roundRect">
            <a:avLst>
              <a:gd name="adj" fmla="val 2182"/>
            </a:avLst>
          </a:prstGeom>
          <a:solidFill>
            <a:srgbClr val="E5F4F6"/>
          </a:solidFill>
          <a:ln w="15240">
            <a:solidFill>
              <a:srgbClr val="1E7C8C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429000" y="1417320"/>
            <a:ext cx="2514600" cy="594360"/>
          </a:xfrm>
          <a:prstGeom prst="rect">
            <a:avLst/>
          </a:prstGeom>
          <a:solidFill>
            <a:srgbClr val="1E7C8C"/>
          </a:solidFill>
          <a:ln w="12700">
            <a:solidFill>
              <a:srgbClr val="1E7C8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566160" y="157276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93592" y="2267712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写真基盤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11880" y="3044952"/>
            <a:ext cx="118872" cy="118872"/>
          </a:xfrm>
          <a:prstGeom prst="ellipse">
            <a:avLst/>
          </a:prstGeom>
          <a:solidFill>
            <a:srgbClr val="1E7C8C"/>
          </a:solidFill>
          <a:ln w="12700">
            <a:solidFill>
              <a:srgbClr val="1E7C8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831336" y="2971800"/>
            <a:ext cx="1929384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予定・出荷参照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11880" y="3532632"/>
            <a:ext cx="118872" cy="118872"/>
          </a:xfrm>
          <a:prstGeom prst="ellipse">
            <a:avLst/>
          </a:prstGeom>
          <a:solidFill>
            <a:srgbClr val="1E7C8C"/>
          </a:solidFill>
          <a:ln w="12700">
            <a:solidFill>
              <a:srgbClr val="1E7C8C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831336" y="3459480"/>
            <a:ext cx="1929384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通常写真・OCR黒板登録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11880" y="4020312"/>
            <a:ext cx="118872" cy="118872"/>
          </a:xfrm>
          <a:prstGeom prst="ellipse">
            <a:avLst/>
          </a:prstGeom>
          <a:solidFill>
            <a:srgbClr val="1E7C8C"/>
          </a:solidFill>
          <a:ln w="12700">
            <a:solidFill>
              <a:srgbClr val="1E7C8C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831336" y="3947160"/>
            <a:ext cx="1929384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クラウド保管・Agent・JPEG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30168" y="4773168"/>
            <a:ext cx="2112264" cy="0"/>
          </a:xfrm>
          <a:prstGeom prst="line">
            <a:avLst/>
          </a:prstGeom>
          <a:noFill/>
          <a:ln w="12700">
            <a:solidFill>
              <a:srgbClr val="1E7C8C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611880" y="501091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写真業務を評価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63640" y="1417320"/>
            <a:ext cx="2514600" cy="4251960"/>
          </a:xfrm>
          <a:prstGeom prst="roundRect">
            <a:avLst>
              <a:gd name="adj" fmla="val 2182"/>
            </a:avLst>
          </a:prstGeom>
          <a:solidFill>
            <a:srgbClr val="FFF4D6"/>
          </a:solidFill>
          <a:ln w="1524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263640" y="1417320"/>
            <a:ext cx="2514600" cy="59436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400800" y="157276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28232" y="2267712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OCR入力支援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446520" y="3044952"/>
            <a:ext cx="118872" cy="118872"/>
          </a:xfrm>
          <a:prstGeom prst="ellipse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665976" y="2971800"/>
            <a:ext cx="1929384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OCR・結果同期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46520" y="3532632"/>
            <a:ext cx="118872" cy="118872"/>
          </a:xfrm>
          <a:prstGeom prst="ellipse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665976" y="3459480"/>
            <a:ext cx="1929384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原本並列確認・安全反映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46520" y="4020312"/>
            <a:ext cx="118872" cy="118872"/>
          </a:xfrm>
          <a:prstGeom prst="ellipse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665976" y="3947160"/>
            <a:ext cx="1929384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修正率・入力時間を計測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64808" y="4773168"/>
            <a:ext cx="2112264" cy="0"/>
          </a:xfrm>
          <a:prstGeom prst="line">
            <a:avLst/>
          </a:prstGeom>
          <a:noFill/>
          <a:ln w="1270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446520" y="501091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9E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効果と安全性を評価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098280" y="1417320"/>
            <a:ext cx="2514600" cy="4251960"/>
          </a:xfrm>
          <a:prstGeom prst="roundRect">
            <a:avLst>
              <a:gd name="adj" fmla="val 2182"/>
            </a:avLst>
          </a:prstGeom>
          <a:solidFill>
            <a:srgbClr val="EAF3E8"/>
          </a:solidFill>
          <a:ln w="15240">
            <a:solidFill>
              <a:srgbClr val="4C7A57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9098280" y="1417320"/>
            <a:ext cx="2514600" cy="594360"/>
          </a:xfrm>
          <a:prstGeom prst="rect">
            <a:avLst/>
          </a:prstGeom>
          <a:solidFill>
            <a:srgbClr val="4C7A57"/>
          </a:solidFill>
          <a:ln w="12700">
            <a:solidFill>
              <a:srgbClr val="4C7A57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9235440" y="157276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262872" y="2267712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運用強化・展開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9281160" y="3044952"/>
            <a:ext cx="118872" cy="118872"/>
          </a:xfrm>
          <a:prstGeom prst="ellipse">
            <a:avLst/>
          </a:prstGeom>
          <a:solidFill>
            <a:srgbClr val="4C7A57"/>
          </a:solidFill>
          <a:ln w="12700">
            <a:solidFill>
              <a:srgbClr val="4C7A57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9500616" y="2971800"/>
            <a:ext cx="1929384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管理・再同期・分析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281160" y="3532632"/>
            <a:ext cx="118872" cy="118872"/>
          </a:xfrm>
          <a:prstGeom prst="ellipse">
            <a:avLst/>
          </a:prstGeom>
          <a:solidFill>
            <a:srgbClr val="4C7A57"/>
          </a:solidFill>
          <a:ln w="12700">
            <a:solidFill>
              <a:srgbClr val="4C7A57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9500616" y="3459480"/>
            <a:ext cx="1929384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複数工場・教育・サポート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281160" y="4020312"/>
            <a:ext cx="118872" cy="118872"/>
          </a:xfrm>
          <a:prstGeom prst="ellipse">
            <a:avLst/>
          </a:prstGeom>
          <a:solidFill>
            <a:srgbClr val="4C7A57"/>
          </a:solidFill>
          <a:ln w="12700">
            <a:solidFill>
              <a:srgbClr val="4C7A57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9500616" y="3947160"/>
            <a:ext cx="1929384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費用・保持・監視を最適化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299448" y="4773168"/>
            <a:ext cx="2112264" cy="0"/>
          </a:xfrm>
          <a:prstGeom prst="line">
            <a:avLst/>
          </a:prstGeom>
          <a:noFill/>
          <a:ln w="12700">
            <a:solidFill>
              <a:srgbClr val="4C7A57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9281160" y="501091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7A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本展開を判断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5727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今回確認・決定したいこと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72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実装開始前に、責任者と期限を明確にします。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389888"/>
            <a:ext cx="2971800" cy="3520440"/>
          </a:xfrm>
          <a:prstGeom prst="roundRect">
            <a:avLst>
              <a:gd name="adj" fmla="val 1846"/>
            </a:avLst>
          </a:prstGeom>
          <a:solidFill>
            <a:srgbClr val="E5F4F6"/>
          </a:solidFill>
          <a:ln w="15240">
            <a:solidFill>
              <a:srgbClr val="1E7C8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389888"/>
            <a:ext cx="2971800" cy="594360"/>
          </a:xfrm>
          <a:prstGeom prst="rect">
            <a:avLst/>
          </a:prstGeom>
          <a:solidFill>
            <a:srgbClr val="1E7C8C"/>
          </a:solidFill>
          <a:ln w="12700">
            <a:solidFill>
              <a:srgbClr val="1E7C8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58952" y="1563624"/>
            <a:ext cx="2642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業務・スコープ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50392" y="2331720"/>
            <a:ext cx="347472" cy="347472"/>
          </a:xfrm>
          <a:prstGeom prst="ellipse">
            <a:avLst/>
          </a:prstGeom>
          <a:solidFill>
            <a:srgbClr val="1E7C8C"/>
          </a:solidFill>
          <a:ln w="12700">
            <a:solidFill>
              <a:srgbClr val="1E7C8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50392" y="242316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344168" y="23500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業務目的とKPI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50392" y="3044952"/>
            <a:ext cx="347472" cy="347472"/>
          </a:xfrm>
          <a:prstGeom prst="ellipse">
            <a:avLst/>
          </a:prstGeom>
          <a:solidFill>
            <a:srgbClr val="1E7C8C"/>
          </a:solidFill>
          <a:ln w="12700">
            <a:solidFill>
              <a:srgbClr val="1E7C8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0392" y="313639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44168" y="3063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MVP・パイロット範囲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50392" y="3758184"/>
            <a:ext cx="347472" cy="347472"/>
          </a:xfrm>
          <a:prstGeom prst="ellipse">
            <a:avLst/>
          </a:prstGeom>
          <a:solidFill>
            <a:srgbClr val="1E7C8C"/>
          </a:solidFill>
          <a:ln w="12700">
            <a:solidFill>
              <a:srgbClr val="1E7C8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50392" y="384962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344168" y="3776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対象端末・利用者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86200" y="1389888"/>
            <a:ext cx="2971800" cy="3520440"/>
          </a:xfrm>
          <a:prstGeom prst="roundRect">
            <a:avLst>
              <a:gd name="adj" fmla="val 1846"/>
            </a:avLst>
          </a:prstGeom>
          <a:solidFill>
            <a:srgbClr val="FFF4D6"/>
          </a:solidFill>
          <a:ln w="1524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886200" y="1389888"/>
            <a:ext cx="2971800" cy="59436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050792" y="1563624"/>
            <a:ext cx="2642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データ・技術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42232" y="2331720"/>
            <a:ext cx="347472" cy="347472"/>
          </a:xfrm>
          <a:prstGeom prst="ellipse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142232" y="242316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36008" y="23500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OCRサービスと送信条件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42232" y="3044952"/>
            <a:ext cx="347472" cy="347472"/>
          </a:xfrm>
          <a:prstGeom prst="ellipse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142232" y="313639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36008" y="3063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保持・削除・費用上限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42232" y="3758184"/>
            <a:ext cx="347472" cy="347472"/>
          </a:xfrm>
          <a:prstGeom prst="ellipse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142232" y="384962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36008" y="3776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Agent認証の正式仕様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78040" y="1389888"/>
            <a:ext cx="2971800" cy="3520440"/>
          </a:xfrm>
          <a:prstGeom prst="roundRect">
            <a:avLst>
              <a:gd name="adj" fmla="val 1846"/>
            </a:avLst>
          </a:prstGeom>
          <a:solidFill>
            <a:srgbClr val="F0EAF5"/>
          </a:solidFill>
          <a:ln w="15240">
            <a:solidFill>
              <a:srgbClr val="725A86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178040" y="1389888"/>
            <a:ext cx="2971800" cy="594360"/>
          </a:xfrm>
          <a:prstGeom prst="rect">
            <a:avLst/>
          </a:prstGeom>
          <a:solidFill>
            <a:srgbClr val="725A86"/>
          </a:solidFill>
          <a:ln w="12700">
            <a:solidFill>
              <a:srgbClr val="725A86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342632" y="1563624"/>
            <a:ext cx="2642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運用・受入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434072" y="2331720"/>
            <a:ext cx="347472" cy="347472"/>
          </a:xfrm>
          <a:prstGeom prst="ellipse">
            <a:avLst/>
          </a:prstGeom>
          <a:solidFill>
            <a:srgbClr val="725A86"/>
          </a:solidFill>
          <a:ln w="12700">
            <a:solidFill>
              <a:srgbClr val="725A86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434072" y="242316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927848" y="23500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監視・容量・障害一次対応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434072" y="3044952"/>
            <a:ext cx="347472" cy="347472"/>
          </a:xfrm>
          <a:prstGeom prst="ellipse">
            <a:avLst/>
          </a:prstGeom>
          <a:solidFill>
            <a:srgbClr val="725A86"/>
          </a:solidFill>
          <a:ln w="12700">
            <a:solidFill>
              <a:srgbClr val="725A86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434072" y="313639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927848" y="3063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受入基準とテスト範囲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434072" y="3758184"/>
            <a:ext cx="347472" cy="347472"/>
          </a:xfrm>
          <a:prstGeom prst="ellipse">
            <a:avLst/>
          </a:prstGeom>
          <a:solidFill>
            <a:srgbClr val="725A86"/>
          </a:solidFill>
          <a:ln w="12700">
            <a:solidFill>
              <a:srgbClr val="725A8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7434072" y="384962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927848" y="3776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36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教育・展開・ロールバック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94360" y="5257800"/>
            <a:ext cx="1325880" cy="310896"/>
          </a:xfrm>
          <a:prstGeom prst="roundRect">
            <a:avLst>
              <a:gd name="adj" fmla="val 41176"/>
            </a:avLst>
          </a:prstGeom>
          <a:solidFill>
            <a:srgbClr val="3E6FA6"/>
          </a:solidFill>
          <a:ln w="12700">
            <a:solidFill>
              <a:srgbClr val="3E6FA6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67512" y="5330952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次の進め方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9808" y="5678424"/>
            <a:ext cx="118872" cy="118872"/>
          </a:xfrm>
          <a:prstGeom prst="ellipse">
            <a:avLst/>
          </a:prstGeom>
          <a:solidFill>
            <a:srgbClr val="3E6FA6"/>
          </a:solidFill>
          <a:ln w="12700">
            <a:solidFill>
              <a:srgbClr val="3E6FA6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969264" y="5605272"/>
            <a:ext cx="10296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責任者・期限を決め、決定事項一覧を更新する。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749808" y="5897880"/>
            <a:ext cx="118872" cy="118872"/>
          </a:xfrm>
          <a:prstGeom prst="ellipse">
            <a:avLst/>
          </a:prstGeom>
          <a:solidFill>
            <a:srgbClr val="3E6FA6"/>
          </a:solidFill>
          <a:ln w="12700">
            <a:solidFill>
              <a:srgbClr val="3E6FA6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969264" y="5824728"/>
            <a:ext cx="10296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0のPoC計画と受入基準を確定する。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749808" y="6117336"/>
            <a:ext cx="118872" cy="118872"/>
          </a:xfrm>
          <a:prstGeom prst="ellipse">
            <a:avLst/>
          </a:prstGeom>
          <a:solidFill>
            <a:srgbClr val="3E6FA6"/>
          </a:solidFill>
          <a:ln w="12700">
            <a:solidFill>
              <a:srgbClr val="3E6FA6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969264" y="6044184"/>
            <a:ext cx="10296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03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合意した要件・基本設計を基に、実装設計・テスト・導入手順を具体化する。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5727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63A5F"/>
                </a:solidFill>
                <a:latin typeface="Noto Sans CJK JP"/>
              </a:rPr>
              <a:t>資料体系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4183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7B8C"/>
                </a:solidFill>
                <a:latin typeface="Noto Sans CJK JP"/>
              </a:rPr>
              <a:t>説明・合意・実装・受入を同じ仕様でつなぎます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44168"/>
            <a:ext cx="11018520" cy="36576"/>
          </a:xfrm>
          <a:prstGeom prst="rect">
            <a:avLst/>
          </a:prstGeom>
          <a:solidFill>
            <a:srgbClr val="16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2514600" cy="1874519"/>
          </a:xfrm>
          <a:prstGeom prst="roundRect">
            <a:avLst/>
          </a:prstGeom>
          <a:solidFill>
            <a:srgbClr val="EAF4F7"/>
          </a:solidFill>
          <a:ln w="19050">
            <a:solidFill>
              <a:srgbClr val="167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73152"/>
          <a:lstStyle/>
          <a:p>
            <a:pPr algn="ctr"/>
            <a:r>
              <a:rPr sz="1600" b="1">
                <a:solidFill>
                  <a:srgbClr val="163A5F"/>
                </a:solidFill>
                <a:latin typeface="Noto Sans CJK JP"/>
              </a:rPr>
              <a:t>説明資料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24364A"/>
                </a:solidFill>
                <a:latin typeface="Noto Sans CJK JP"/>
              </a:rPr>
              <a:t>目的・価値・範囲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24364A"/>
                </a:solidFill>
                <a:latin typeface="Noto Sans CJK JP"/>
              </a:rPr>
              <a:t>全体像・業務フロー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24364A"/>
                </a:solidFill>
                <a:latin typeface="Noto Sans CJK JP"/>
              </a:rPr>
              <a:t>判断事項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10128" y="1645920"/>
            <a:ext cx="2514600" cy="1874519"/>
          </a:xfrm>
          <a:prstGeom prst="roundRect">
            <a:avLst/>
          </a:prstGeom>
          <a:solidFill>
            <a:srgbClr val="EAF0F8"/>
          </a:solidFill>
          <a:ln w="19050">
            <a:solidFill>
              <a:srgbClr val="3B6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73152"/>
          <a:lstStyle/>
          <a:p>
            <a:pPr algn="ctr"/>
            <a:r>
              <a:rPr sz="1600" b="1">
                <a:solidFill>
                  <a:srgbClr val="163A5F"/>
                </a:solidFill>
                <a:latin typeface="Noto Sans CJK JP"/>
              </a:rPr>
              <a:t>要件定義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24364A"/>
                </a:solidFill>
                <a:latin typeface="Noto Sans CJK JP"/>
              </a:rPr>
              <a:t>業務要件・対象外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24364A"/>
                </a:solidFill>
                <a:latin typeface="Noto Sans CJK JP"/>
              </a:rPr>
              <a:t>機能 / 非機能要件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24364A"/>
                </a:solidFill>
                <a:latin typeface="Noto Sans CJK JP"/>
              </a:rPr>
              <a:t>受入方針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25896" y="1645920"/>
            <a:ext cx="2514600" cy="1874519"/>
          </a:xfrm>
          <a:prstGeom prst="roundRect">
            <a:avLst/>
          </a:prstGeom>
          <a:solidFill>
            <a:srgbClr val="ECF5ED"/>
          </a:solidFill>
          <a:ln w="19050">
            <a:solidFill>
              <a:srgbClr val="4D7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73152"/>
          <a:lstStyle/>
          <a:p>
            <a:pPr algn="ctr"/>
            <a:r>
              <a:rPr sz="1600" b="1">
                <a:solidFill>
                  <a:srgbClr val="163A5F"/>
                </a:solidFill>
                <a:latin typeface="Noto Sans CJK JP"/>
              </a:rPr>
              <a:t>基本設計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24364A"/>
                </a:solidFill>
                <a:latin typeface="Noto Sans CJK JP"/>
              </a:rPr>
              <a:t>責任分担・正本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24364A"/>
                </a:solidFill>
                <a:latin typeface="Noto Sans CJK JP"/>
              </a:rPr>
              <a:t>認証・同期・安全方針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24364A"/>
                </a:solidFill>
                <a:latin typeface="Noto Sans CJK JP"/>
              </a:rPr>
              <a:t>障害時の継続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41664" y="1645920"/>
            <a:ext cx="2514600" cy="1874519"/>
          </a:xfrm>
          <a:prstGeom prst="roundRect">
            <a:avLst/>
          </a:prstGeom>
          <a:solidFill>
            <a:srgbClr val="FFF4D8"/>
          </a:solidFill>
          <a:ln w="19050">
            <a:solidFill>
              <a:srgbClr val="D9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73152"/>
          <a:lstStyle/>
          <a:p>
            <a:pPr algn="ctr"/>
            <a:r>
              <a:rPr sz="1600" b="1">
                <a:solidFill>
                  <a:srgbClr val="163A5F"/>
                </a:solidFill>
                <a:latin typeface="Noto Sans CJK JP"/>
              </a:rPr>
              <a:t>詳細仕様 5分冊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24364A"/>
                </a:solidFill>
                <a:latin typeface="Noto Sans CJK JP"/>
              </a:rPr>
              <a:t>0〜22章を全収録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24364A"/>
                </a:solidFill>
                <a:latin typeface="Noto Sans CJK JP"/>
              </a:rPr>
              <a:t>画面・API・DB・イベント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24364A"/>
                </a:solidFill>
                <a:latin typeface="Noto Sans CJK JP"/>
              </a:rPr>
              <a:t>Agent・運用・DDL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3977639"/>
            <a:ext cx="3703320" cy="141732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6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73152"/>
          <a:lstStyle/>
          <a:p>
            <a:pPr algn="ctr"/>
            <a:r>
              <a:rPr sz="1600" b="1">
                <a:solidFill>
                  <a:srgbClr val="163A5F"/>
                </a:solidFill>
                <a:latin typeface="Noto Sans CJK JP"/>
              </a:rPr>
              <a:t>トレーサビリティ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24364A"/>
                </a:solidFill>
                <a:latin typeface="Noto Sans CJK JP"/>
              </a:rPr>
              <a:t>228見出しの収録先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24364A"/>
                </a:solidFill>
                <a:latin typeface="Noto Sans CJK JP"/>
              </a:rPr>
              <a:t>要件・API・データ・判断事項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977639"/>
            <a:ext cx="3703320" cy="1417320"/>
          </a:xfrm>
          <a:prstGeom prst="roundRect">
            <a:avLst/>
          </a:prstGeom>
          <a:solidFill>
            <a:srgbClr val="FCECEC"/>
          </a:solidFill>
          <a:ln w="19050">
            <a:solidFill>
              <a:srgbClr val="C95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73152"/>
          <a:lstStyle/>
          <a:p>
            <a:pPr algn="ctr"/>
            <a:r>
              <a:rPr sz="1600" b="1">
                <a:solidFill>
                  <a:srgbClr val="163A5F"/>
                </a:solidFill>
                <a:latin typeface="Noto Sans CJK JP"/>
              </a:rPr>
              <a:t>受入管理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24364A"/>
                </a:solidFill>
                <a:latin typeface="Noto Sans CJK JP"/>
              </a:rPr>
              <a:t>A-01〜A-123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24364A"/>
                </a:solidFill>
                <a:latin typeface="Noto Sans CJK JP"/>
              </a:rPr>
              <a:t>担当・状態・証跡・リリース判定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63A5F"/>
                </a:solidFill>
                <a:latin typeface="Noto Sans CJK JP"/>
              </a:rPr>
              <a:t>仕様の網羅性とレビュー順序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4183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7B8C"/>
                </a:solidFill>
                <a:latin typeface="Noto Sans CJK JP"/>
              </a:rPr>
              <a:t>詳細を失わず、読者ごとに確認範囲を分けます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44168"/>
            <a:ext cx="11018520" cy="36576"/>
          </a:xfrm>
          <a:prstGeom prst="rect">
            <a:avLst/>
          </a:prstGeom>
          <a:solidFill>
            <a:srgbClr val="16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196596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167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167D8F"/>
                </a:solidFill>
                <a:latin typeface="Noto Sans CJK JP"/>
              </a:rPr>
              <a:t>23</a:t>
            </a:r>
          </a:p>
          <a:p>
            <a:pPr algn="ctr"/>
            <a:r>
              <a:rPr sz="1100">
                <a:solidFill>
                  <a:srgbClr val="24364A"/>
                </a:solidFill>
                <a:latin typeface="Noto Sans CJK JP"/>
              </a:rPr>
              <a:t>章（0〜22）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62072" y="1645920"/>
            <a:ext cx="196596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3B6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3B6EA8"/>
                </a:solidFill>
                <a:latin typeface="Noto Sans CJK JP"/>
              </a:rPr>
              <a:t>228</a:t>
            </a:r>
          </a:p>
          <a:p>
            <a:pPr algn="ctr"/>
            <a:r>
              <a:rPr sz="1100">
                <a:solidFill>
                  <a:srgbClr val="24364A"/>
                </a:solidFill>
                <a:latin typeface="Noto Sans CJK JP"/>
              </a:rPr>
              <a:t>見出し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9784" y="1645920"/>
            <a:ext cx="196596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4D7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4D7F59"/>
                </a:solidFill>
                <a:latin typeface="Noto Sans CJK JP"/>
              </a:rPr>
              <a:t>123</a:t>
            </a:r>
          </a:p>
          <a:p>
            <a:pPr algn="ctr"/>
            <a:r>
              <a:rPr sz="1100">
                <a:solidFill>
                  <a:srgbClr val="24364A"/>
                </a:solidFill>
                <a:latin typeface="Noto Sans CJK JP"/>
              </a:rPr>
              <a:t>受入条件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97496" y="1645920"/>
            <a:ext cx="196596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D9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D99A22"/>
                </a:solidFill>
                <a:latin typeface="Noto Sans CJK JP"/>
              </a:rPr>
              <a:t>24</a:t>
            </a:r>
          </a:p>
          <a:p>
            <a:pPr algn="ctr"/>
            <a:r>
              <a:rPr sz="1100">
                <a:solidFill>
                  <a:srgbClr val="24364A"/>
                </a:solidFill>
                <a:latin typeface="Noto Sans CJK JP"/>
              </a:rPr>
              <a:t>HTTP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65208" y="1645920"/>
            <a:ext cx="196596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C95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C95353"/>
                </a:solidFill>
                <a:latin typeface="Noto Sans CJK JP"/>
              </a:rPr>
              <a:t>12</a:t>
            </a:r>
          </a:p>
          <a:p>
            <a:pPr algn="ctr"/>
            <a:r>
              <a:rPr sz="1100">
                <a:solidFill>
                  <a:srgbClr val="24364A"/>
                </a:solidFill>
                <a:latin typeface="Noto Sans CJK JP"/>
              </a:rPr>
              <a:t>FieldTestスキーマ追加表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03320"/>
            <a:ext cx="1920240" cy="1325880"/>
          </a:xfrm>
          <a:prstGeom prst="roundRect">
            <a:avLst/>
          </a:prstGeom>
          <a:solidFill>
            <a:srgbClr val="EAF4F7"/>
          </a:solidFill>
          <a:ln>
            <a:solidFill>
              <a:srgbClr val="167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63A5F"/>
                </a:solidFill>
                <a:latin typeface="Noto Sans CJK JP"/>
              </a:rPr>
              <a:t>1. 目的・範囲</a:t>
            </a:r>
          </a:p>
          <a:p>
            <a:r>
              <a:rPr sz="1050">
                <a:solidFill>
                  <a:srgbClr val="6B7B8C"/>
                </a:solidFill>
                <a:latin typeface="Noto Sans CJK JP"/>
              </a:rPr>
              <a:t>要件定義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1" y="3703320"/>
            <a:ext cx="1920240" cy="1325880"/>
          </a:xfrm>
          <a:prstGeom prst="roundRect">
            <a:avLst/>
          </a:prstGeom>
          <a:solidFill>
            <a:srgbClr val="EAF4F7"/>
          </a:solidFill>
          <a:ln>
            <a:solidFill>
              <a:srgbClr val="167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63A5F"/>
                </a:solidFill>
                <a:latin typeface="Noto Sans CJK JP"/>
              </a:rPr>
              <a:t>2. 責任・主要方式</a:t>
            </a:r>
          </a:p>
          <a:p>
            <a:r>
              <a:rPr sz="1050">
                <a:solidFill>
                  <a:srgbClr val="6B7B8C"/>
                </a:solidFill>
                <a:latin typeface="Noto Sans CJK JP"/>
              </a:rPr>
              <a:t>基本設計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75504" y="3703320"/>
            <a:ext cx="1920240" cy="1325880"/>
          </a:xfrm>
          <a:prstGeom prst="roundRect">
            <a:avLst/>
          </a:prstGeom>
          <a:solidFill>
            <a:srgbClr val="EAF4F7"/>
          </a:solidFill>
          <a:ln>
            <a:solidFill>
              <a:srgbClr val="167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63A5F"/>
                </a:solidFill>
                <a:latin typeface="Noto Sans CJK JP"/>
              </a:rPr>
              <a:t>3. 専門領域</a:t>
            </a:r>
          </a:p>
          <a:p>
            <a:r>
              <a:rPr sz="1050">
                <a:solidFill>
                  <a:srgbClr val="6B7B8C"/>
                </a:solidFill>
                <a:latin typeface="Noto Sans CJK JP"/>
              </a:rPr>
              <a:t>詳細仕様 5分冊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43215" y="3703320"/>
            <a:ext cx="1920240" cy="1325880"/>
          </a:xfrm>
          <a:prstGeom prst="roundRect">
            <a:avLst/>
          </a:prstGeom>
          <a:solidFill>
            <a:srgbClr val="EAF4F7"/>
          </a:solidFill>
          <a:ln>
            <a:solidFill>
              <a:srgbClr val="167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63A5F"/>
                </a:solidFill>
                <a:latin typeface="Noto Sans CJK JP"/>
              </a:rPr>
              <a:t>4. 担当・証跡</a:t>
            </a:r>
          </a:p>
          <a:p>
            <a:r>
              <a:rPr sz="1050">
                <a:solidFill>
                  <a:srgbClr val="6B7B8C"/>
                </a:solidFill>
                <a:latin typeface="Noto Sans CJK JP"/>
              </a:rPr>
              <a:t>受入管理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10928" y="3703320"/>
            <a:ext cx="1920240" cy="1325880"/>
          </a:xfrm>
          <a:prstGeom prst="roundRect">
            <a:avLst/>
          </a:prstGeom>
          <a:solidFill>
            <a:srgbClr val="EAF4F7"/>
          </a:solidFill>
          <a:ln>
            <a:solidFill>
              <a:srgbClr val="167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63A5F"/>
                </a:solidFill>
                <a:latin typeface="Noto Sans CJK JP"/>
              </a:rPr>
              <a:t>5. Go / No-Go</a:t>
            </a:r>
          </a:p>
          <a:p>
            <a:r>
              <a:rPr sz="1050">
                <a:solidFill>
                  <a:srgbClr val="6B7B8C"/>
                </a:solidFill>
                <a:latin typeface="Noto Sans CJK JP"/>
              </a:rPr>
              <a:t>リリース判定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9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63A5F"/>
                </a:solidFill>
                <a:latin typeface="Noto Sans CJK JP"/>
              </a:rPr>
              <a:t>ローカルDBの配置と設定XML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7B8C"/>
                </a:solidFill>
                <a:latin typeface="Noto Sans CJK JP"/>
              </a:rPr>
              <a:t>既存の出荷管理DBを利用し、専用スキーマで機能を明確に分離します。</a:t>
            </a:r>
          </a:p>
        </p:txBody>
      </p:sp>
      <p:pic>
        <p:nvPicPr>
          <p:cNvPr id="5" name="Picture 4" descr="13_データベース配置・設定解決図_第2.2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07008"/>
            <a:ext cx="10908792" cy="61130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9224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C5B6C"/>
                </a:solidFill>
                <a:latin typeface="Noto Sans CJK JP"/>
              </a:rPr>
              <a:t>新しい物理DBは作成せず、既存のDB設定XMLに新しいデータベース項目も追加しません。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B8C"/>
                </a:solidFill>
                <a:latin typeface="Noto Sans CJK JP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Labonity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現場試験アプリ ステークホルダー説明資料 v2.2</dc:title>
  <dc:subject>現場試験アプリ ステークホルダー説明</dc:subject>
  <dc:creator>Labonity project</dc:creator>
  <cp:lastModifiedBy>Labonity project</cp:lastModifiedBy>
  <cp:revision>1</cp:revision>
  <dcterms:created xsi:type="dcterms:W3CDTF">2026-06-21T23:11:08Z</dcterms:created>
  <dcterms:modified xsi:type="dcterms:W3CDTF">2026-06-21T23:11:08Z</dcterms:modified>
</cp:coreProperties>
</file>